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71" r:id="rId11"/>
    <p:sldId id="269" r:id="rId12"/>
    <p:sldId id="272" r:id="rId13"/>
    <p:sldId id="270" r:id="rId14"/>
  </p:sldIdLst>
  <p:sldSz cx="18288000" cy="10287000"/>
  <p:notesSz cx="6858000" cy="9144000"/>
  <p:embeddedFontLst>
    <p:embeddedFont>
      <p:font typeface="Agrandir Bold" panose="020B0604020202020204" charset="0"/>
      <p:regular r:id="rId15"/>
    </p:embeddedFont>
    <p:embeddedFont>
      <p:font typeface="Almarai" panose="020B0604020202020204" charset="-78"/>
      <p:regular r:id="rId16"/>
    </p:embeddedFont>
    <p:embeddedFont>
      <p:font typeface="Anton" pitchFamily="2" charset="0"/>
      <p:regular r:id="rId17"/>
    </p:embeddedFont>
    <p:embeddedFont>
      <p:font typeface="Heebo Bold" panose="020B0604020202020204" charset="-79"/>
      <p:regular r:id="rId18"/>
    </p:embeddedFont>
    <p:embeddedFont>
      <p:font typeface="Quicksand" panose="020B0604020202020204" charset="0"/>
      <p:regular r:id="rId19"/>
    </p:embeddedFont>
    <p:embeddedFont>
      <p:font typeface="Quicksand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4" d="100"/>
          <a:sy n="44" d="100"/>
        </p:scale>
        <p:origin x="1330" y="4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66405" y="7422290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699053" y="-637047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4454239" y="6638823"/>
            <a:ext cx="2805061" cy="2805061"/>
            <a:chOff x="0" y="0"/>
            <a:chExt cx="903111" cy="9031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3111" cy="903111"/>
            </a:xfrm>
            <a:custGeom>
              <a:avLst/>
              <a:gdLst/>
              <a:ahLst/>
              <a:cxnLst/>
              <a:rect l="l" t="t" r="r" b="b"/>
              <a:pathLst>
                <a:path w="903111" h="903111">
                  <a:moveTo>
                    <a:pt x="0" y="0"/>
                  </a:moveTo>
                  <a:lnTo>
                    <a:pt x="903111" y="0"/>
                  </a:lnTo>
                  <a:lnTo>
                    <a:pt x="903111" y="903111"/>
                  </a:lnTo>
                  <a:lnTo>
                    <a:pt x="0" y="903111"/>
                  </a:lnTo>
                  <a:close/>
                </a:path>
              </a:pathLst>
            </a:custGeom>
            <a:solidFill>
              <a:srgbClr val="CEFFF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903111" cy="865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696400" y="6623904"/>
            <a:ext cx="2757838" cy="2805061"/>
          </a:xfrm>
          <a:custGeom>
            <a:avLst/>
            <a:gdLst/>
            <a:ahLst/>
            <a:cxnLst/>
            <a:rect l="l" t="t" r="r" b="b"/>
            <a:pathLst>
              <a:path w="2757838" h="2805061">
                <a:moveTo>
                  <a:pt x="0" y="0"/>
                </a:moveTo>
                <a:lnTo>
                  <a:pt x="2757838" y="0"/>
                </a:lnTo>
                <a:lnTo>
                  <a:pt x="2757838" y="2805061"/>
                </a:lnTo>
                <a:lnTo>
                  <a:pt x="0" y="2805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15432428" y="7617013"/>
            <a:ext cx="848682" cy="84868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C4B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99053" y="78576"/>
            <a:ext cx="6560247" cy="6560247"/>
            <a:chOff x="0" y="0"/>
            <a:chExt cx="3331210" cy="33312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31210" cy="3331210"/>
            </a:xfrm>
            <a:custGeom>
              <a:avLst/>
              <a:gdLst/>
              <a:ahLst/>
              <a:cxnLst/>
              <a:rect l="l" t="t" r="r" b="b"/>
              <a:pathLst>
                <a:path w="3331210" h="3331210">
                  <a:moveTo>
                    <a:pt x="3331210" y="3331210"/>
                  </a:moveTo>
                  <a:lnTo>
                    <a:pt x="0" y="3331210"/>
                  </a:lnTo>
                  <a:cubicBezTo>
                    <a:pt x="0" y="1490980"/>
                    <a:pt x="1490980" y="0"/>
                    <a:pt x="3331210" y="0"/>
                  </a:cubicBezTo>
                  <a:lnTo>
                    <a:pt x="3331210" y="3331210"/>
                  </a:lnTo>
                  <a:close/>
                </a:path>
              </a:pathLst>
            </a:custGeom>
            <a:blipFill>
              <a:blip r:embed="rId6"/>
              <a:stretch>
                <a:fillRect r="-3490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536746"/>
            <a:ext cx="3884572" cy="1092536"/>
          </a:xfrm>
          <a:custGeom>
            <a:avLst/>
            <a:gdLst/>
            <a:ahLst/>
            <a:cxnLst/>
            <a:rect l="l" t="t" r="r" b="b"/>
            <a:pathLst>
              <a:path w="3884572" h="1092536">
                <a:moveTo>
                  <a:pt x="0" y="0"/>
                </a:moveTo>
                <a:lnTo>
                  <a:pt x="3884572" y="0"/>
                </a:lnTo>
                <a:lnTo>
                  <a:pt x="3884572" y="1092535"/>
                </a:lnTo>
                <a:lnTo>
                  <a:pt x="0" y="10925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4" name="Group 14"/>
          <p:cNvGrpSpPr/>
          <p:nvPr/>
        </p:nvGrpSpPr>
        <p:grpSpPr>
          <a:xfrm>
            <a:off x="1028700" y="2686848"/>
            <a:ext cx="9439790" cy="3677875"/>
            <a:chOff x="0" y="0"/>
            <a:chExt cx="12586386" cy="4903834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238125"/>
              <a:ext cx="12586386" cy="4358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70"/>
                </a:lnSpc>
              </a:pPr>
              <a:r>
                <a:rPr lang="en-US" sz="6438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ScanMitra: Connecting</a:t>
              </a:r>
            </a:p>
            <a:p>
              <a:pPr marL="0" lvl="0" indent="0" algn="l">
                <a:lnSpc>
                  <a:spcPts val="8370"/>
                </a:lnSpc>
              </a:pPr>
              <a:r>
                <a:rPr lang="en-US" sz="6438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Patients to Diagnostic Centers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335509"/>
              <a:ext cx="12586386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49"/>
                </a:lnSpc>
                <a:spcBef>
                  <a:spcPct val="0"/>
                </a:spcBef>
              </a:pPr>
              <a:r>
                <a:rPr lang="en-US" sz="2791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Your Companion for Smarter Diagnostic Appointments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72" r="-6707" b="-90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38456" y="428109"/>
            <a:ext cx="3119401" cy="877332"/>
          </a:xfrm>
          <a:custGeom>
            <a:avLst/>
            <a:gdLst/>
            <a:ahLst/>
            <a:cxnLst/>
            <a:rect l="l" t="t" r="r" b="b"/>
            <a:pathLst>
              <a:path w="3119401" h="877332">
                <a:moveTo>
                  <a:pt x="0" y="0"/>
                </a:moveTo>
                <a:lnTo>
                  <a:pt x="3119401" y="0"/>
                </a:lnTo>
                <a:lnTo>
                  <a:pt x="3119401" y="877332"/>
                </a:lnTo>
                <a:lnTo>
                  <a:pt x="0" y="877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2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-4058361" y="2991085"/>
            <a:ext cx="17170559" cy="4304829"/>
            <a:chOff x="0" y="0"/>
            <a:chExt cx="22894078" cy="5739772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2894078" cy="5739772"/>
              <a:chOff x="0" y="0"/>
              <a:chExt cx="914067" cy="22916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14067" cy="229166"/>
              </a:xfrm>
              <a:custGeom>
                <a:avLst/>
                <a:gdLst/>
                <a:ahLst/>
                <a:cxnLst/>
                <a:rect l="l" t="t" r="r" b="b"/>
                <a:pathLst>
                  <a:path w="914067" h="229166">
                    <a:moveTo>
                      <a:pt x="710867" y="0"/>
                    </a:moveTo>
                    <a:cubicBezTo>
                      <a:pt x="823091" y="0"/>
                      <a:pt x="914067" y="51300"/>
                      <a:pt x="914067" y="114583"/>
                    </a:cubicBezTo>
                    <a:cubicBezTo>
                      <a:pt x="914067" y="177865"/>
                      <a:pt x="823091" y="229166"/>
                      <a:pt x="710867" y="229166"/>
                    </a:cubicBezTo>
                    <a:lnTo>
                      <a:pt x="203200" y="229166"/>
                    </a:lnTo>
                    <a:cubicBezTo>
                      <a:pt x="90976" y="229166"/>
                      <a:pt x="0" y="177865"/>
                      <a:pt x="0" y="114583"/>
                    </a:cubicBezTo>
                    <a:cubicBezTo>
                      <a:pt x="0" y="5130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3DC4BF">
                  <a:alpha val="54902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14067" cy="2767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7005008" y="1410834"/>
              <a:ext cx="12441195" cy="34481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7"/>
                </a:lnSpc>
              </a:pPr>
              <a:r>
                <a:rPr lang="en-US" sz="2998" b="1" spc="299">
                  <a:solidFill>
                    <a:srgbClr val="000000"/>
                  </a:solidFill>
                  <a:latin typeface="Heebo Bold"/>
                  <a:ea typeface="Heebo Bold"/>
                  <a:cs typeface="Heebo Bold"/>
                  <a:sym typeface="Heebo Bold"/>
                </a:rPr>
                <a:t>THE IDEA IS TO ACT AS A COMPANION OR ASSISTANT FOR PATIENTS WHO VISIT DIAGNOSTIC CENTERS FOR ULTRASOUND, X-RAY, OR SONOGRAPHY.</a:t>
              </a:r>
            </a:p>
            <a:p>
              <a:pPr marL="0" lvl="0" indent="0" algn="ctr">
                <a:lnSpc>
                  <a:spcPts val="4197"/>
                </a:lnSpc>
              </a:pPr>
              <a:endParaRPr lang="en-US" sz="2998" b="1" spc="29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77" r="-6504" b="-851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554625" y="-4532822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-2612451" y="2042210"/>
            <a:ext cx="18375861" cy="3735213"/>
            <a:chOff x="0" y="0"/>
            <a:chExt cx="24501148" cy="4980285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3274823" cy="4980285"/>
              <a:chOff x="0" y="0"/>
              <a:chExt cx="4597496" cy="98376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597496" cy="983760"/>
              </a:xfrm>
              <a:custGeom>
                <a:avLst/>
                <a:gdLst/>
                <a:ahLst/>
                <a:cxnLst/>
                <a:rect l="l" t="t" r="r" b="b"/>
                <a:pathLst>
                  <a:path w="4597496" h="983760">
                    <a:moveTo>
                      <a:pt x="22619" y="0"/>
                    </a:moveTo>
                    <a:lnTo>
                      <a:pt x="4574877" y="0"/>
                    </a:lnTo>
                    <a:cubicBezTo>
                      <a:pt x="4587369" y="0"/>
                      <a:pt x="4597496" y="10127"/>
                      <a:pt x="4597496" y="22619"/>
                    </a:cubicBezTo>
                    <a:lnTo>
                      <a:pt x="4597496" y="961141"/>
                    </a:lnTo>
                    <a:cubicBezTo>
                      <a:pt x="4597496" y="973633"/>
                      <a:pt x="4587369" y="983760"/>
                      <a:pt x="4574877" y="983760"/>
                    </a:cubicBezTo>
                    <a:lnTo>
                      <a:pt x="22619" y="983760"/>
                    </a:lnTo>
                    <a:cubicBezTo>
                      <a:pt x="10127" y="983760"/>
                      <a:pt x="0" y="973633"/>
                      <a:pt x="0" y="961141"/>
                    </a:cubicBezTo>
                    <a:lnTo>
                      <a:pt x="0" y="22619"/>
                    </a:lnTo>
                    <a:cubicBezTo>
                      <a:pt x="0" y="10127"/>
                      <a:pt x="10127" y="0"/>
                      <a:pt x="22619" y="0"/>
                    </a:cubicBezTo>
                    <a:close/>
                  </a:path>
                </a:pathLst>
              </a:custGeom>
              <a:solidFill>
                <a:srgbClr val="04A8A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4597496" cy="10123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21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794971" y="172921"/>
              <a:ext cx="2016091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PROBLEMS FACED BY PATIENTS (CUSTOMERS):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40239" y="969502"/>
              <a:ext cx="20160910" cy="365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57866" lvl="1" indent="-328933" algn="l">
                <a:lnSpc>
                  <a:spcPts val="3656"/>
                </a:lnSpc>
                <a:buFont typeface="Arial"/>
                <a:buChar char="•"/>
              </a:pPr>
              <a:r>
                <a:rPr lang="en-US" sz="3047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Long queues (2–3 hrs wait)</a:t>
              </a:r>
            </a:p>
            <a:p>
              <a:pPr marL="657866" lvl="1" indent="-328933" algn="l">
                <a:lnSpc>
                  <a:spcPts val="3656"/>
                </a:lnSpc>
                <a:buFont typeface="Arial"/>
                <a:buChar char="•"/>
              </a:pPr>
              <a:r>
                <a:rPr lang="en-US" sz="3047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No real-time updates about waiting status</a:t>
              </a:r>
            </a:p>
            <a:p>
              <a:pPr marL="657866" lvl="1" indent="-328933" algn="l">
                <a:lnSpc>
                  <a:spcPts val="3656"/>
                </a:lnSpc>
                <a:buFont typeface="Arial"/>
                <a:buChar char="•"/>
              </a:pPr>
              <a:r>
                <a:rPr lang="en-US" sz="3047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Uncertainty of turn </a:t>
              </a:r>
            </a:p>
            <a:p>
              <a:pPr marL="657866" lvl="1" indent="-328933" algn="l">
                <a:lnSpc>
                  <a:spcPts val="3656"/>
                </a:lnSpc>
                <a:buFont typeface="Arial"/>
                <a:buChar char="•"/>
              </a:pPr>
              <a:r>
                <a:rPr lang="en-US" sz="3047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High stress for elderly &amp; pregnant women </a:t>
              </a:r>
            </a:p>
            <a:p>
              <a:pPr marL="657866" lvl="1" indent="-328933" algn="l">
                <a:lnSpc>
                  <a:spcPts val="3656"/>
                </a:lnSpc>
                <a:buFont typeface="Arial"/>
                <a:buChar char="•"/>
              </a:pPr>
              <a:r>
                <a:rPr lang="en-US" sz="3047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Wasted working hours for professionals</a:t>
              </a:r>
            </a:p>
            <a:p>
              <a:pPr marL="657866" lvl="1" indent="-328933" algn="l">
                <a:lnSpc>
                  <a:spcPts val="3656"/>
                </a:lnSpc>
                <a:buFont typeface="Arial"/>
                <a:buChar char="•"/>
              </a:pPr>
              <a:r>
                <a:rPr lang="en-US" sz="3047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Overall frustration &amp; poor experience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31300" y="6144136"/>
            <a:ext cx="17456117" cy="3735213"/>
            <a:chOff x="0" y="0"/>
            <a:chExt cx="23274823" cy="4980285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3274823" cy="4980285"/>
              <a:chOff x="0" y="0"/>
              <a:chExt cx="4597496" cy="9837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597496" cy="983760"/>
              </a:xfrm>
              <a:custGeom>
                <a:avLst/>
                <a:gdLst/>
                <a:ahLst/>
                <a:cxnLst/>
                <a:rect l="l" t="t" r="r" b="b"/>
                <a:pathLst>
                  <a:path w="4597496" h="983760">
                    <a:moveTo>
                      <a:pt x="22619" y="0"/>
                    </a:moveTo>
                    <a:lnTo>
                      <a:pt x="4574877" y="0"/>
                    </a:lnTo>
                    <a:cubicBezTo>
                      <a:pt x="4587369" y="0"/>
                      <a:pt x="4597496" y="10127"/>
                      <a:pt x="4597496" y="22619"/>
                    </a:cubicBezTo>
                    <a:lnTo>
                      <a:pt x="4597496" y="961141"/>
                    </a:lnTo>
                    <a:cubicBezTo>
                      <a:pt x="4597496" y="973633"/>
                      <a:pt x="4587369" y="983760"/>
                      <a:pt x="4574877" y="983760"/>
                    </a:cubicBezTo>
                    <a:lnTo>
                      <a:pt x="22619" y="983760"/>
                    </a:lnTo>
                    <a:cubicBezTo>
                      <a:pt x="10127" y="983760"/>
                      <a:pt x="0" y="973633"/>
                      <a:pt x="0" y="961141"/>
                    </a:cubicBezTo>
                    <a:lnTo>
                      <a:pt x="0" y="22619"/>
                    </a:lnTo>
                    <a:cubicBezTo>
                      <a:pt x="0" y="10127"/>
                      <a:pt x="10127" y="0"/>
                      <a:pt x="22619" y="0"/>
                    </a:cubicBezTo>
                    <a:close/>
                  </a:path>
                </a:pathLst>
              </a:custGeom>
              <a:solidFill>
                <a:srgbClr val="04A8A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4597496" cy="10123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21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52713" y="392862"/>
              <a:ext cx="20860966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PROBLEMS FACED BY DIAGNOSTIC CENTERS: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06928" y="1107237"/>
              <a:ext cx="20860966" cy="365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58496" lvl="1" indent="-329248" algn="l">
                <a:lnSpc>
                  <a:spcPts val="3660"/>
                </a:lnSpc>
                <a:buFont typeface="Arial"/>
                <a:buChar char="•"/>
              </a:pPr>
              <a:r>
                <a:rPr lang="en-US" sz="305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Queue mismanagement</a:t>
              </a:r>
            </a:p>
            <a:p>
              <a:pPr marL="658496" lvl="1" indent="-329248" algn="l">
                <a:lnSpc>
                  <a:spcPts val="3660"/>
                </a:lnSpc>
                <a:buFont typeface="Arial"/>
                <a:buChar char="•"/>
              </a:pPr>
              <a:r>
                <a:rPr lang="en-US" sz="305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Revenue loss from walkouts</a:t>
              </a:r>
            </a:p>
            <a:p>
              <a:pPr marL="658496" lvl="1" indent="-329248" algn="l">
                <a:lnSpc>
                  <a:spcPts val="3660"/>
                </a:lnSpc>
                <a:buFont typeface="Arial"/>
                <a:buChar char="•"/>
              </a:pPr>
              <a:r>
                <a:rPr lang="en-US" sz="305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Unorganized data — no record of patient flow &amp; peak times</a:t>
              </a:r>
            </a:p>
            <a:p>
              <a:pPr marL="658496" lvl="1" indent="-329248" algn="l">
                <a:lnSpc>
                  <a:spcPts val="3660"/>
                </a:lnSpc>
                <a:buFont typeface="Arial"/>
                <a:buChar char="•"/>
              </a:pPr>
              <a:r>
                <a:rPr lang="en-US" sz="305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Overcrowded reception </a:t>
              </a:r>
            </a:p>
            <a:p>
              <a:pPr marL="658496" lvl="1" indent="-329248" algn="l">
                <a:lnSpc>
                  <a:spcPts val="3660"/>
                </a:lnSpc>
                <a:buFont typeface="Arial"/>
                <a:buChar char="•"/>
              </a:pPr>
              <a:r>
                <a:rPr lang="en-US" sz="305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Idle machines/staff </a:t>
              </a:r>
            </a:p>
            <a:p>
              <a:pPr marL="658496" lvl="1" indent="-329248" algn="l">
                <a:lnSpc>
                  <a:spcPts val="3660"/>
                </a:lnSpc>
                <a:buFont typeface="Arial"/>
                <a:buChar char="•"/>
              </a:pPr>
              <a:r>
                <a:rPr lang="en-US" sz="305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No proper system to handle missed/canceled appointments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588329" y="428456"/>
            <a:ext cx="2802402" cy="788176"/>
          </a:xfrm>
          <a:custGeom>
            <a:avLst/>
            <a:gdLst/>
            <a:ahLst/>
            <a:cxnLst/>
            <a:rect l="l" t="t" r="r" b="b"/>
            <a:pathLst>
              <a:path w="2802402" h="788176">
                <a:moveTo>
                  <a:pt x="0" y="0"/>
                </a:moveTo>
                <a:lnTo>
                  <a:pt x="2802402" y="0"/>
                </a:lnTo>
                <a:lnTo>
                  <a:pt x="2802402" y="788176"/>
                </a:lnTo>
                <a:lnTo>
                  <a:pt x="0" y="7881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5355290" y="468919"/>
            <a:ext cx="7577421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16"/>
              </a:lnSpc>
              <a:spcBef>
                <a:spcPct val="0"/>
              </a:spcBef>
            </a:pPr>
            <a:r>
              <a:rPr lang="en-US" sz="7096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Problems Faced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A8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66405" y="7139434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282333" y="-6319184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3086143" y="2436684"/>
            <a:ext cx="5655788" cy="5973649"/>
            <a:chOff x="0" y="0"/>
            <a:chExt cx="1636899" cy="17288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36899" cy="1728894"/>
            </a:xfrm>
            <a:custGeom>
              <a:avLst/>
              <a:gdLst/>
              <a:ahLst/>
              <a:cxnLst/>
              <a:rect l="l" t="t" r="r" b="b"/>
              <a:pathLst>
                <a:path w="1636899" h="1728894">
                  <a:moveTo>
                    <a:pt x="0" y="0"/>
                  </a:moveTo>
                  <a:lnTo>
                    <a:pt x="1636899" y="0"/>
                  </a:lnTo>
                  <a:lnTo>
                    <a:pt x="1636899" y="1728894"/>
                  </a:lnTo>
                  <a:lnTo>
                    <a:pt x="0" y="1728894"/>
                  </a:ln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0"/>
              <a:ext cx="1636899" cy="163364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5454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21083" y="2436684"/>
            <a:ext cx="1931660" cy="2865532"/>
          </a:xfrm>
          <a:custGeom>
            <a:avLst/>
            <a:gdLst/>
            <a:ahLst/>
            <a:cxnLst/>
            <a:rect l="l" t="t" r="r" b="b"/>
            <a:pathLst>
              <a:path w="1931660" h="2865532">
                <a:moveTo>
                  <a:pt x="0" y="0"/>
                </a:moveTo>
                <a:lnTo>
                  <a:pt x="1931660" y="0"/>
                </a:lnTo>
                <a:lnTo>
                  <a:pt x="1931660" y="2865532"/>
                </a:lnTo>
                <a:lnTo>
                  <a:pt x="0" y="2865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201114" y="7055464"/>
            <a:ext cx="2664120" cy="2709739"/>
          </a:xfrm>
          <a:custGeom>
            <a:avLst/>
            <a:gdLst/>
            <a:ahLst/>
            <a:cxnLst/>
            <a:rect l="l" t="t" r="r" b="b"/>
            <a:pathLst>
              <a:path w="2664120" h="2709739">
                <a:moveTo>
                  <a:pt x="0" y="0"/>
                </a:moveTo>
                <a:lnTo>
                  <a:pt x="2664120" y="0"/>
                </a:lnTo>
                <a:lnTo>
                  <a:pt x="2664120" y="2709739"/>
                </a:lnTo>
                <a:lnTo>
                  <a:pt x="0" y="27097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2552743" y="468919"/>
            <a:ext cx="12813154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20"/>
              </a:lnSpc>
              <a:spcBef>
                <a:spcPct val="0"/>
              </a:spcBef>
            </a:pPr>
            <a:r>
              <a:rPr lang="en-US" sz="7100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Solutions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195589" y="3390222"/>
            <a:ext cx="5305565" cy="4615729"/>
            <a:chOff x="0" y="0"/>
            <a:chExt cx="7074087" cy="6154305"/>
          </a:xfrm>
        </p:grpSpPr>
        <p:sp>
          <p:nvSpPr>
            <p:cNvPr id="11" name="TextBox 11"/>
            <p:cNvSpPr txBox="1"/>
            <p:nvPr/>
          </p:nvSpPr>
          <p:spPr>
            <a:xfrm>
              <a:off x="552919" y="2252230"/>
              <a:ext cx="5968250" cy="390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5206" lvl="1" indent="-302603" algn="l">
                <a:lnSpc>
                  <a:spcPts val="3363"/>
                </a:lnSpc>
                <a:buFont typeface="Arial"/>
                <a:buChar char="•"/>
              </a:pPr>
              <a:r>
                <a:rPr lang="en-US" sz="2803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Online booking of slots</a:t>
              </a:r>
            </a:p>
            <a:p>
              <a:pPr marL="605206" lvl="1" indent="-302603" algn="l">
                <a:lnSpc>
                  <a:spcPts val="3363"/>
                </a:lnSpc>
                <a:buFont typeface="Arial"/>
                <a:buChar char="•"/>
              </a:pPr>
              <a:r>
                <a:rPr lang="en-US" sz="2803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Real-time queue visibility</a:t>
              </a:r>
            </a:p>
            <a:p>
              <a:pPr marL="605206" lvl="1" indent="-302603" algn="l">
                <a:lnSpc>
                  <a:spcPts val="3363"/>
                </a:lnSpc>
                <a:buFont typeface="Arial"/>
                <a:buChar char="•"/>
              </a:pPr>
              <a:r>
                <a:rPr lang="en-US" sz="2803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Easy patient login</a:t>
              </a:r>
            </a:p>
            <a:p>
              <a:pPr marL="605206" lvl="1" indent="-302603" algn="l">
                <a:lnSpc>
                  <a:spcPts val="3363"/>
                </a:lnSpc>
                <a:buFont typeface="Arial"/>
                <a:buChar char="•"/>
              </a:pPr>
              <a:r>
                <a:rPr lang="en-US" sz="2803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Waitlist management </a:t>
              </a:r>
            </a:p>
            <a:p>
              <a:pPr marL="605206" lvl="1" indent="-302603" algn="l">
                <a:lnSpc>
                  <a:spcPts val="3363"/>
                </a:lnSpc>
                <a:buFont typeface="Arial"/>
                <a:buChar char="•"/>
              </a:pPr>
              <a:r>
                <a:rPr lang="en-US" sz="2803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Multi-center access</a:t>
              </a:r>
            </a:p>
            <a:p>
              <a:pPr marL="0" lvl="0" indent="0" algn="ctr">
                <a:lnSpc>
                  <a:spcPts val="3363"/>
                </a:lnSpc>
              </a:pPr>
              <a:endParaRPr lang="en-US" sz="2803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7074087" cy="2076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49"/>
                </a:lnSpc>
                <a:spcBef>
                  <a:spcPct val="0"/>
                </a:spcBef>
              </a:pPr>
              <a:r>
                <a:rPr lang="en-US" sz="329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SOLUTIONS FOR PATIENTS (CUSTOMERS):</a:t>
              </a:r>
            </a:p>
            <a:p>
              <a:pPr marL="0" lvl="0" indent="0" algn="ctr">
                <a:lnSpc>
                  <a:spcPts val="3949"/>
                </a:lnSpc>
                <a:spcBef>
                  <a:spcPct val="0"/>
                </a:spcBef>
              </a:pPr>
              <a:endParaRPr lang="en-US" sz="329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0" y="2436684"/>
            <a:ext cx="5655788" cy="5973649"/>
            <a:chOff x="0" y="0"/>
            <a:chExt cx="1636899" cy="17288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36899" cy="1728894"/>
            </a:xfrm>
            <a:custGeom>
              <a:avLst/>
              <a:gdLst/>
              <a:ahLst/>
              <a:cxnLst/>
              <a:rect l="l" t="t" r="r" b="b"/>
              <a:pathLst>
                <a:path w="1636899" h="1728894">
                  <a:moveTo>
                    <a:pt x="0" y="0"/>
                  </a:moveTo>
                  <a:lnTo>
                    <a:pt x="1636899" y="0"/>
                  </a:lnTo>
                  <a:lnTo>
                    <a:pt x="1636899" y="1728894"/>
                  </a:lnTo>
                  <a:lnTo>
                    <a:pt x="0" y="1728894"/>
                  </a:ln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0"/>
              <a:ext cx="1636899" cy="163364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5454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437256" y="3380697"/>
            <a:ext cx="5305565" cy="4615729"/>
            <a:chOff x="0" y="0"/>
            <a:chExt cx="7074087" cy="6154305"/>
          </a:xfrm>
        </p:grpSpPr>
        <p:sp>
          <p:nvSpPr>
            <p:cNvPr id="17" name="TextBox 17"/>
            <p:cNvSpPr txBox="1"/>
            <p:nvPr/>
          </p:nvSpPr>
          <p:spPr>
            <a:xfrm>
              <a:off x="552919" y="2252230"/>
              <a:ext cx="5968250" cy="390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5206" lvl="1" indent="-302603" algn="l">
                <a:lnSpc>
                  <a:spcPts val="3363"/>
                </a:lnSpc>
                <a:buFont typeface="Arial"/>
                <a:buChar char="•"/>
              </a:pPr>
              <a:r>
                <a:rPr lang="en-US" sz="2803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Customized portals</a:t>
              </a:r>
            </a:p>
            <a:p>
              <a:pPr marL="605206" lvl="1" indent="-302603" algn="l">
                <a:lnSpc>
                  <a:spcPts val="3363"/>
                </a:lnSpc>
                <a:buFont typeface="Arial"/>
                <a:buChar char="•"/>
              </a:pPr>
              <a:r>
                <a:rPr lang="en-US" sz="2803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Follow-up system </a:t>
              </a:r>
            </a:p>
            <a:p>
              <a:pPr marL="605206" lvl="1" indent="-302603" algn="l">
                <a:lnSpc>
                  <a:spcPts val="3363"/>
                </a:lnSpc>
                <a:buFont typeface="Arial"/>
                <a:buChar char="•"/>
              </a:pPr>
              <a:r>
                <a:rPr lang="en-US" sz="2803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Booking analytics</a:t>
              </a:r>
            </a:p>
            <a:p>
              <a:pPr marL="605206" lvl="1" indent="-302603" algn="l">
                <a:lnSpc>
                  <a:spcPts val="3363"/>
                </a:lnSpc>
                <a:buFont typeface="Arial"/>
                <a:buChar char="•"/>
              </a:pPr>
              <a:r>
                <a:rPr lang="en-US" sz="2803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Efficient scheduling</a:t>
              </a:r>
            </a:p>
            <a:p>
              <a:pPr marL="605206" lvl="1" indent="-302603" algn="l">
                <a:lnSpc>
                  <a:spcPts val="3363"/>
                </a:lnSpc>
                <a:buFont typeface="Arial"/>
                <a:buChar char="•"/>
              </a:pPr>
              <a:r>
                <a:rPr lang="en-US" sz="2803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Improved patient retention</a:t>
              </a:r>
            </a:p>
            <a:p>
              <a:pPr marL="0" lvl="0" indent="0" algn="ctr">
                <a:lnSpc>
                  <a:spcPts val="3363"/>
                </a:lnSpc>
              </a:pPr>
              <a:endParaRPr lang="en-US" sz="2803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7074087" cy="2076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49"/>
                </a:lnSpc>
                <a:spcBef>
                  <a:spcPct val="0"/>
                </a:spcBef>
              </a:pPr>
              <a:r>
                <a:rPr lang="en-US" sz="3290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SOLUTIONS FOR DIAGNOSTIC CENTERS:</a:t>
              </a:r>
            </a:p>
            <a:p>
              <a:pPr marL="0" lvl="0" indent="0" algn="ctr">
                <a:lnSpc>
                  <a:spcPts val="3949"/>
                </a:lnSpc>
                <a:spcBef>
                  <a:spcPct val="0"/>
                </a:spcBef>
              </a:pPr>
              <a:endParaRPr lang="en-US" sz="329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588329" y="428456"/>
            <a:ext cx="2802402" cy="788176"/>
          </a:xfrm>
          <a:custGeom>
            <a:avLst/>
            <a:gdLst/>
            <a:ahLst/>
            <a:cxnLst/>
            <a:rect l="l" t="t" r="r" b="b"/>
            <a:pathLst>
              <a:path w="2802402" h="788176">
                <a:moveTo>
                  <a:pt x="0" y="0"/>
                </a:moveTo>
                <a:lnTo>
                  <a:pt x="2802402" y="0"/>
                </a:lnTo>
                <a:lnTo>
                  <a:pt x="2802402" y="788176"/>
                </a:lnTo>
                <a:lnTo>
                  <a:pt x="0" y="7881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FF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89720" y="1445481"/>
            <a:ext cx="17170559" cy="7634140"/>
            <a:chOff x="0" y="0"/>
            <a:chExt cx="914067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4067" cy="406400"/>
            </a:xfrm>
            <a:custGeom>
              <a:avLst/>
              <a:gdLst/>
              <a:ahLst/>
              <a:cxnLst/>
              <a:rect l="l" t="t" r="r" b="b"/>
              <a:pathLst>
                <a:path w="914067" h="406400">
                  <a:moveTo>
                    <a:pt x="710867" y="0"/>
                  </a:moveTo>
                  <a:cubicBezTo>
                    <a:pt x="823091" y="0"/>
                    <a:pt x="914067" y="90976"/>
                    <a:pt x="914067" y="203200"/>
                  </a:cubicBezTo>
                  <a:cubicBezTo>
                    <a:pt x="914067" y="315424"/>
                    <a:pt x="823091" y="406400"/>
                    <a:pt x="71086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DC4BF">
                <a:alpha val="8000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1406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112799" y="3500402"/>
            <a:ext cx="10662033" cy="4171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7"/>
              </a:lnSpc>
            </a:pPr>
            <a:r>
              <a:rPr lang="en-US" sz="2998" b="1" spc="29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WE NAMED OUR PROJECT SCANMITRA. THE IDEA IS TO REDUCE THE LONG WAITING HOURS AT DIAGNOSTIC CENTERS. IT CONNECTS PATIENTS WITH CENTERS THROUGH REAL-TIME SLOT BOOKING. IT SAVES TIME, REDUCES STRESS, AND MAKES THE WHOLE PROCESS SMOOTHER FOR BOTH PATIENTS AND CENTERS.</a:t>
            </a:r>
          </a:p>
          <a:p>
            <a:pPr marL="0" lvl="0" indent="0" algn="just">
              <a:lnSpc>
                <a:spcPts val="4197"/>
              </a:lnSpc>
            </a:pPr>
            <a:endParaRPr lang="en-US" sz="2998" b="1" spc="299">
              <a:solidFill>
                <a:srgbClr val="000000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879668" y="3771900"/>
            <a:ext cx="2219724" cy="8467702"/>
            <a:chOff x="0" y="0"/>
            <a:chExt cx="2959632" cy="1129027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5365706"/>
              <a:ext cx="2959632" cy="3010311"/>
              <a:chOff x="0" y="0"/>
              <a:chExt cx="714657" cy="72689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14657" cy="726895"/>
              </a:xfrm>
              <a:custGeom>
                <a:avLst/>
                <a:gdLst/>
                <a:ahLst/>
                <a:cxnLst/>
                <a:rect l="l" t="t" r="r" b="b"/>
                <a:pathLst>
                  <a:path w="714657" h="726895">
                    <a:moveTo>
                      <a:pt x="0" y="0"/>
                    </a:moveTo>
                    <a:lnTo>
                      <a:pt x="714657" y="0"/>
                    </a:lnTo>
                    <a:lnTo>
                      <a:pt x="714657" y="726895"/>
                    </a:lnTo>
                    <a:lnTo>
                      <a:pt x="0" y="726895"/>
                    </a:lnTo>
                    <a:close/>
                  </a:path>
                </a:pathLst>
              </a:custGeom>
              <a:solidFill>
                <a:srgbClr val="04A8A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38100"/>
                <a:ext cx="714657" cy="6887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6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 flipH="1">
              <a:off x="0" y="5365706"/>
              <a:ext cx="2959632" cy="3010311"/>
            </a:xfrm>
            <a:custGeom>
              <a:avLst/>
              <a:gdLst/>
              <a:ahLst/>
              <a:cxnLst/>
              <a:rect l="l" t="t" r="r" b="b"/>
              <a:pathLst>
                <a:path w="2959632" h="3010311">
                  <a:moveTo>
                    <a:pt x="2959632" y="0"/>
                  </a:moveTo>
                  <a:lnTo>
                    <a:pt x="0" y="0"/>
                  </a:lnTo>
                  <a:lnTo>
                    <a:pt x="0" y="3010311"/>
                  </a:lnTo>
                  <a:lnTo>
                    <a:pt x="2959632" y="3010311"/>
                  </a:lnTo>
                  <a:lnTo>
                    <a:pt x="295963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7605" y="0"/>
              <a:ext cx="2932027" cy="2355395"/>
            </a:xfrm>
            <a:custGeom>
              <a:avLst/>
              <a:gdLst/>
              <a:ahLst/>
              <a:cxnLst/>
              <a:rect l="l" t="t" r="r" b="b"/>
              <a:pathLst>
                <a:path w="2932027" h="2355395">
                  <a:moveTo>
                    <a:pt x="0" y="0"/>
                  </a:moveTo>
                  <a:lnTo>
                    <a:pt x="2932027" y="0"/>
                  </a:lnTo>
                  <a:lnTo>
                    <a:pt x="2932027" y="2355395"/>
                  </a:lnTo>
                  <a:lnTo>
                    <a:pt x="0" y="235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2355395"/>
              <a:ext cx="2959632" cy="3010311"/>
              <a:chOff x="0" y="0"/>
              <a:chExt cx="714657" cy="72689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14657" cy="726895"/>
              </a:xfrm>
              <a:custGeom>
                <a:avLst/>
                <a:gdLst/>
                <a:ahLst/>
                <a:cxnLst/>
                <a:rect l="l" t="t" r="r" b="b"/>
                <a:pathLst>
                  <a:path w="714657" h="726895">
                    <a:moveTo>
                      <a:pt x="0" y="0"/>
                    </a:moveTo>
                    <a:lnTo>
                      <a:pt x="714657" y="0"/>
                    </a:lnTo>
                    <a:lnTo>
                      <a:pt x="714657" y="726895"/>
                    </a:lnTo>
                    <a:lnTo>
                      <a:pt x="0" y="726895"/>
                    </a:lnTo>
                    <a:close/>
                  </a:path>
                </a:pathLst>
              </a:custGeom>
              <a:solidFill>
                <a:srgbClr val="04A8A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38100"/>
                <a:ext cx="714657" cy="6887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86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27831" y="3294762"/>
              <a:ext cx="1131576" cy="1131576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FE0D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0500" y="161925"/>
                <a:ext cx="431800" cy="460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21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588329" y="428456"/>
            <a:ext cx="2802402" cy="788176"/>
          </a:xfrm>
          <a:custGeom>
            <a:avLst/>
            <a:gdLst/>
            <a:ahLst/>
            <a:cxnLst/>
            <a:rect l="l" t="t" r="r" b="b"/>
            <a:pathLst>
              <a:path w="2802402" h="788176">
                <a:moveTo>
                  <a:pt x="0" y="0"/>
                </a:moveTo>
                <a:lnTo>
                  <a:pt x="2802402" y="0"/>
                </a:lnTo>
                <a:lnTo>
                  <a:pt x="2802402" y="788176"/>
                </a:lnTo>
                <a:lnTo>
                  <a:pt x="0" y="7881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10625" y="7369387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863179" y="1937435"/>
            <a:ext cx="9402117" cy="94021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04A8A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8100" y="9525"/>
              <a:ext cx="7366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1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795021" y="726094"/>
            <a:ext cx="10697957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21"/>
              </a:lnSpc>
            </a:pPr>
            <a:r>
              <a:rPr lang="en-US" sz="6267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WHY ScanMitra?</a:t>
            </a:r>
          </a:p>
          <a:p>
            <a:pPr marL="0" lvl="0" indent="0" algn="ctr">
              <a:lnSpc>
                <a:spcPts val="7521"/>
              </a:lnSpc>
            </a:pPr>
            <a:endParaRPr lang="en-US" sz="6267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759604" y="1937435"/>
            <a:ext cx="9402117" cy="940211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04A8A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100" y="9525"/>
              <a:ext cx="7366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3718" y="3468915"/>
            <a:ext cx="6009965" cy="5047208"/>
            <a:chOff x="0" y="0"/>
            <a:chExt cx="8013287" cy="6729611"/>
          </a:xfrm>
        </p:grpSpPr>
        <p:sp>
          <p:nvSpPr>
            <p:cNvPr id="11" name="TextBox 11"/>
            <p:cNvSpPr txBox="1"/>
            <p:nvPr/>
          </p:nvSpPr>
          <p:spPr>
            <a:xfrm>
              <a:off x="626328" y="1852811"/>
              <a:ext cx="6760631" cy="4876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56403" lvl="1" indent="-328202" algn="l">
                <a:lnSpc>
                  <a:spcPts val="3648"/>
                </a:lnSpc>
                <a:buFont typeface="Arial"/>
                <a:buChar char="•"/>
              </a:pPr>
              <a:r>
                <a:rPr lang="en-US" sz="304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Saves time</a:t>
              </a:r>
            </a:p>
            <a:p>
              <a:pPr marL="656403" lvl="1" indent="-328202" algn="l">
                <a:lnSpc>
                  <a:spcPts val="3648"/>
                </a:lnSpc>
                <a:buFont typeface="Arial"/>
                <a:buChar char="•"/>
              </a:pPr>
              <a:r>
                <a:rPr lang="en-US" sz="304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Improves patient experience</a:t>
              </a:r>
            </a:p>
            <a:p>
              <a:pPr marL="656403" lvl="1" indent="-328202" algn="l">
                <a:lnSpc>
                  <a:spcPts val="3648"/>
                </a:lnSpc>
                <a:buFont typeface="Arial"/>
                <a:buChar char="•"/>
              </a:pPr>
              <a:r>
                <a:rPr lang="en-US" sz="304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Enhances trust &amp; transparency</a:t>
              </a:r>
            </a:p>
            <a:p>
              <a:pPr marL="656403" lvl="1" indent="-328202" algn="l">
                <a:lnSpc>
                  <a:spcPts val="3648"/>
                </a:lnSpc>
                <a:buFont typeface="Arial"/>
                <a:buChar char="•"/>
              </a:pPr>
              <a:r>
                <a:rPr lang="en-US" sz="304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Convenience &amp; comfort</a:t>
              </a:r>
            </a:p>
            <a:p>
              <a:pPr marL="656403" lvl="1" indent="-328202" algn="l">
                <a:lnSpc>
                  <a:spcPts val="3648"/>
                </a:lnSpc>
                <a:buFont typeface="Arial"/>
                <a:buChar char="•"/>
              </a:pPr>
              <a:r>
                <a:rPr lang="en-US" sz="304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Loyalty to better centers</a:t>
              </a:r>
            </a:p>
            <a:p>
              <a:pPr marL="0" lvl="0" indent="0" algn="ctr">
                <a:lnSpc>
                  <a:spcPts val="3648"/>
                </a:lnSpc>
              </a:pPr>
              <a:endParaRPr lang="en-US" sz="304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8013287" cy="1654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81"/>
                </a:lnSpc>
                <a:spcBef>
                  <a:spcPct val="0"/>
                </a:spcBef>
              </a:pPr>
              <a:r>
                <a:rPr lang="en-US" sz="3818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VALUE FOR PATIENTS (CUSTOMERS):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502707" y="3468915"/>
            <a:ext cx="7250342" cy="6406100"/>
            <a:chOff x="0" y="0"/>
            <a:chExt cx="9667123" cy="8541467"/>
          </a:xfrm>
        </p:grpSpPr>
        <p:sp>
          <p:nvSpPr>
            <p:cNvPr id="14" name="TextBox 14"/>
            <p:cNvSpPr txBox="1"/>
            <p:nvPr/>
          </p:nvSpPr>
          <p:spPr>
            <a:xfrm>
              <a:off x="755593" y="1835867"/>
              <a:ext cx="8155936" cy="670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56403" lvl="1" indent="-328202" algn="l">
                <a:lnSpc>
                  <a:spcPts val="3648"/>
                </a:lnSpc>
                <a:buFont typeface="Arial"/>
                <a:buChar char="•"/>
              </a:pPr>
              <a:r>
                <a:rPr lang="en-US" sz="304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Reduces missed appointments</a:t>
              </a:r>
            </a:p>
            <a:p>
              <a:pPr marL="656403" lvl="1" indent="-328202" algn="l">
                <a:lnSpc>
                  <a:spcPts val="3648"/>
                </a:lnSpc>
                <a:buFont typeface="Arial"/>
                <a:buChar char="•"/>
              </a:pPr>
              <a:r>
                <a:rPr lang="en-US" sz="304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Smarter scheduling</a:t>
              </a:r>
            </a:p>
            <a:p>
              <a:pPr marL="656403" lvl="1" indent="-328202" algn="l">
                <a:lnSpc>
                  <a:spcPts val="3648"/>
                </a:lnSpc>
                <a:buFont typeface="Arial"/>
                <a:buChar char="•"/>
              </a:pPr>
              <a:r>
                <a:rPr lang="en-US" sz="304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Increases efficiency</a:t>
              </a:r>
            </a:p>
            <a:p>
              <a:pPr marL="656403" lvl="1" indent="-328202" algn="l">
                <a:lnSpc>
                  <a:spcPts val="3648"/>
                </a:lnSpc>
                <a:buFont typeface="Arial"/>
                <a:buChar char="•"/>
              </a:pPr>
              <a:r>
                <a:rPr lang="en-US" sz="304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Less crowding at reception desks</a:t>
              </a:r>
            </a:p>
            <a:p>
              <a:pPr marL="656403" lvl="1" indent="-328202" algn="l">
                <a:lnSpc>
                  <a:spcPts val="3648"/>
                </a:lnSpc>
                <a:buFont typeface="Arial"/>
                <a:buChar char="•"/>
              </a:pPr>
              <a:r>
                <a:rPr lang="en-US" sz="304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Professional branding</a:t>
              </a:r>
            </a:p>
            <a:p>
              <a:pPr marL="656403" lvl="1" indent="-328202" algn="l">
                <a:lnSpc>
                  <a:spcPts val="3648"/>
                </a:lnSpc>
                <a:buFont typeface="Arial"/>
                <a:buChar char="•"/>
              </a:pPr>
              <a:r>
                <a:rPr lang="en-US" sz="304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Increases patient loyalty (centers offering convenience will be preferred)</a:t>
              </a:r>
            </a:p>
            <a:p>
              <a:pPr marL="0" lvl="0" indent="0" algn="ctr">
                <a:lnSpc>
                  <a:spcPts val="3648"/>
                </a:lnSpc>
              </a:pPr>
              <a:endParaRPr lang="en-US" sz="304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9667123" cy="1637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81"/>
                </a:lnSpc>
                <a:spcBef>
                  <a:spcPct val="0"/>
                </a:spcBef>
              </a:pPr>
              <a:r>
                <a:rPr lang="en-US" sz="3818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VALUE FOR DIAGNOSTIC CENTERS: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588329" y="428456"/>
            <a:ext cx="2802402" cy="788176"/>
          </a:xfrm>
          <a:custGeom>
            <a:avLst/>
            <a:gdLst/>
            <a:ahLst/>
            <a:cxnLst/>
            <a:rect l="l" t="t" r="r" b="b"/>
            <a:pathLst>
              <a:path w="2802402" h="788176">
                <a:moveTo>
                  <a:pt x="0" y="0"/>
                </a:moveTo>
                <a:lnTo>
                  <a:pt x="2802402" y="0"/>
                </a:lnTo>
                <a:lnTo>
                  <a:pt x="2802402" y="788176"/>
                </a:lnTo>
                <a:lnTo>
                  <a:pt x="0" y="788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54625" y="-4532822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575480" y="487969"/>
            <a:ext cx="12252301" cy="103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76"/>
              </a:lnSpc>
              <a:spcBef>
                <a:spcPct val="0"/>
              </a:spcBef>
            </a:pPr>
            <a:r>
              <a:rPr lang="en-US" sz="6896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Tech Stacks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2612451" y="2042210"/>
            <a:ext cx="17456117" cy="3735213"/>
            <a:chOff x="0" y="0"/>
            <a:chExt cx="4597496" cy="9837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97496" cy="983760"/>
            </a:xfrm>
            <a:custGeom>
              <a:avLst/>
              <a:gdLst/>
              <a:ahLst/>
              <a:cxnLst/>
              <a:rect l="l" t="t" r="r" b="b"/>
              <a:pathLst>
                <a:path w="4597496" h="983760">
                  <a:moveTo>
                    <a:pt x="22619" y="0"/>
                  </a:moveTo>
                  <a:lnTo>
                    <a:pt x="4574877" y="0"/>
                  </a:lnTo>
                  <a:cubicBezTo>
                    <a:pt x="4587369" y="0"/>
                    <a:pt x="4597496" y="10127"/>
                    <a:pt x="4597496" y="22619"/>
                  </a:cubicBezTo>
                  <a:lnTo>
                    <a:pt x="4597496" y="961141"/>
                  </a:lnTo>
                  <a:cubicBezTo>
                    <a:pt x="4597496" y="973633"/>
                    <a:pt x="4587369" y="983760"/>
                    <a:pt x="4574877" y="983760"/>
                  </a:cubicBezTo>
                  <a:lnTo>
                    <a:pt x="22619" y="983760"/>
                  </a:lnTo>
                  <a:cubicBezTo>
                    <a:pt x="10127" y="983760"/>
                    <a:pt x="0" y="973633"/>
                    <a:pt x="0" y="961141"/>
                  </a:cubicBezTo>
                  <a:lnTo>
                    <a:pt x="0" y="22619"/>
                  </a:lnTo>
                  <a:cubicBezTo>
                    <a:pt x="0" y="10127"/>
                    <a:pt x="10127" y="0"/>
                    <a:pt x="22619" y="0"/>
                  </a:cubicBezTo>
                  <a:close/>
                </a:path>
              </a:pathLst>
            </a:custGeom>
            <a:solidFill>
              <a:srgbClr val="04A8A4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4597496" cy="1012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1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3777" y="2431457"/>
            <a:ext cx="15120682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</a:pPr>
            <a:endParaRPr lang="en-US" sz="3600" b="1" dirty="0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0" lvl="0" indent="0" algn="l">
              <a:lnSpc>
                <a:spcPts val="4320"/>
              </a:lnSpc>
            </a:pPr>
            <a:endParaRPr lang="en-US" sz="3600" b="1" dirty="0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93309" y="2562008"/>
            <a:ext cx="6336662" cy="2937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200" b="1" dirty="0">
                <a:latin typeface="Quickstand"/>
              </a:rPr>
              <a:t>Frontend</a:t>
            </a:r>
          </a:p>
          <a:p>
            <a:r>
              <a:rPr lang="en-IN" sz="3200" b="1" dirty="0">
                <a:latin typeface="Quickstand"/>
              </a:rPr>
              <a:t>next.js</a:t>
            </a:r>
            <a:endParaRPr lang="en-IN" sz="3200" dirty="0">
              <a:latin typeface="Quickstand"/>
            </a:endParaRPr>
          </a:p>
          <a:p>
            <a:r>
              <a:rPr lang="en-IN" sz="3200" b="1" dirty="0">
                <a:latin typeface="Quickstand"/>
              </a:rPr>
              <a:t>Tailwind CSS</a:t>
            </a:r>
            <a:r>
              <a:rPr lang="en-IN" sz="3200" dirty="0">
                <a:latin typeface="Quickstand"/>
              </a:rPr>
              <a:t> or </a:t>
            </a:r>
            <a:r>
              <a:rPr lang="en-IN" sz="3200" b="1" dirty="0">
                <a:latin typeface="Quickstand"/>
              </a:rPr>
              <a:t>Bootstrap</a:t>
            </a:r>
            <a:endParaRPr lang="en-IN" sz="3200" dirty="0">
              <a:latin typeface="Quickstand"/>
            </a:endParaRPr>
          </a:p>
          <a:p>
            <a:r>
              <a:rPr lang="en-IN" sz="3200" b="1" dirty="0">
                <a:latin typeface="Quickstand"/>
              </a:rPr>
              <a:t>Axios</a:t>
            </a:r>
            <a:r>
              <a:rPr lang="en-IN" sz="3200" dirty="0">
                <a:latin typeface="Quickstand"/>
              </a:rPr>
              <a:t> (API calls)</a:t>
            </a:r>
          </a:p>
          <a:p>
            <a:r>
              <a:rPr lang="en-IN" sz="3200" b="1" dirty="0">
                <a:latin typeface="Quickstand"/>
              </a:rPr>
              <a:t>React Router</a:t>
            </a:r>
            <a:endParaRPr lang="en-IN" sz="3200" dirty="0">
              <a:latin typeface="Quickstand"/>
            </a:endParaRPr>
          </a:p>
          <a:p>
            <a:pPr algn="l">
              <a:lnSpc>
                <a:spcPts val="3896"/>
              </a:lnSpc>
            </a:pPr>
            <a:endParaRPr lang="en-US" sz="3247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283325" y="2562008"/>
            <a:ext cx="15120682" cy="147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0523" lvl="1" algn="l">
              <a:lnSpc>
                <a:spcPts val="3896"/>
              </a:lnSpc>
            </a:pPr>
            <a:r>
              <a:rPr lang="en-US" sz="3247" b="1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BACKEND </a:t>
            </a:r>
            <a:br>
              <a:rPr lang="en-US" sz="3247" b="1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en-US" sz="3247" b="1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Next.js and Express.js</a:t>
            </a:r>
          </a:p>
          <a:p>
            <a:pPr algn="l">
              <a:lnSpc>
                <a:spcPts val="3896"/>
              </a:lnSpc>
            </a:pPr>
            <a:endParaRPr lang="en-US" sz="3247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3973571" y="6247226"/>
            <a:ext cx="17456117" cy="3735213"/>
            <a:chOff x="0" y="0"/>
            <a:chExt cx="4597496" cy="9837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97496" cy="983760"/>
            </a:xfrm>
            <a:custGeom>
              <a:avLst/>
              <a:gdLst/>
              <a:ahLst/>
              <a:cxnLst/>
              <a:rect l="l" t="t" r="r" b="b"/>
              <a:pathLst>
                <a:path w="4597496" h="983760">
                  <a:moveTo>
                    <a:pt x="22619" y="0"/>
                  </a:moveTo>
                  <a:lnTo>
                    <a:pt x="4574877" y="0"/>
                  </a:lnTo>
                  <a:cubicBezTo>
                    <a:pt x="4587369" y="0"/>
                    <a:pt x="4597496" y="10127"/>
                    <a:pt x="4597496" y="22619"/>
                  </a:cubicBezTo>
                  <a:lnTo>
                    <a:pt x="4597496" y="961141"/>
                  </a:lnTo>
                  <a:cubicBezTo>
                    <a:pt x="4597496" y="973633"/>
                    <a:pt x="4587369" y="983760"/>
                    <a:pt x="4574877" y="983760"/>
                  </a:cubicBezTo>
                  <a:lnTo>
                    <a:pt x="22619" y="983760"/>
                  </a:lnTo>
                  <a:cubicBezTo>
                    <a:pt x="10127" y="983760"/>
                    <a:pt x="0" y="973633"/>
                    <a:pt x="0" y="961141"/>
                  </a:cubicBezTo>
                  <a:lnTo>
                    <a:pt x="0" y="22619"/>
                  </a:lnTo>
                  <a:cubicBezTo>
                    <a:pt x="0" y="10127"/>
                    <a:pt x="10127" y="0"/>
                    <a:pt x="22619" y="0"/>
                  </a:cubicBezTo>
                  <a:close/>
                </a:path>
              </a:pathLst>
            </a:custGeom>
            <a:solidFill>
              <a:srgbClr val="04A8A4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4597496" cy="1012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1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033598" y="6905822"/>
            <a:ext cx="6421067" cy="1475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0837" lvl="1" algn="l">
              <a:lnSpc>
                <a:spcPts val="3899"/>
              </a:lnSpc>
            </a:pPr>
            <a:r>
              <a:rPr lang="en-US" sz="3249" b="1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FOR DATABASE :</a:t>
            </a:r>
            <a:br>
              <a:rPr lang="en-US" sz="3249" b="1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</a:br>
            <a:br>
              <a:rPr lang="en-US" sz="3249" b="1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en-US" sz="3249" b="1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MongoDB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11794" y="6905822"/>
            <a:ext cx="6421067" cy="197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0837" lvl="1" algn="l">
              <a:lnSpc>
                <a:spcPts val="3899"/>
              </a:lnSpc>
            </a:pPr>
            <a:r>
              <a:rPr lang="en-US" sz="324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AUTHENTICATION: </a:t>
            </a:r>
            <a:br>
              <a:rPr lang="en-US" sz="324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lang="en-US" sz="324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JWT(JSON Web Token)</a:t>
            </a:r>
            <a:br>
              <a:rPr lang="en-US" sz="324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</a:br>
            <a:br>
              <a:rPr lang="en-US" sz="324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 lang="en-US" sz="3249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588329" y="428456"/>
            <a:ext cx="2802402" cy="788176"/>
          </a:xfrm>
          <a:custGeom>
            <a:avLst/>
            <a:gdLst/>
            <a:ahLst/>
            <a:cxnLst/>
            <a:rect l="l" t="t" r="r" b="b"/>
            <a:pathLst>
              <a:path w="2802402" h="788176">
                <a:moveTo>
                  <a:pt x="0" y="0"/>
                </a:moveTo>
                <a:lnTo>
                  <a:pt x="2802402" y="0"/>
                </a:lnTo>
                <a:lnTo>
                  <a:pt x="2802402" y="788176"/>
                </a:lnTo>
                <a:lnTo>
                  <a:pt x="0" y="788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828" b="-582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6644194" y="-6705065"/>
            <a:ext cx="9466750" cy="9466750"/>
          </a:xfrm>
          <a:custGeom>
            <a:avLst/>
            <a:gdLst/>
            <a:ahLst/>
            <a:cxnLst/>
            <a:rect l="l" t="t" r="r" b="b"/>
            <a:pathLst>
              <a:path w="9466750" h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28700" y="1830230"/>
            <a:ext cx="14212623" cy="6046786"/>
            <a:chOff x="0" y="0"/>
            <a:chExt cx="18950164" cy="8062381"/>
          </a:xfrm>
        </p:grpSpPr>
        <p:sp>
          <p:nvSpPr>
            <p:cNvPr id="5" name="TextBox 5"/>
            <p:cNvSpPr txBox="1"/>
            <p:nvPr/>
          </p:nvSpPr>
          <p:spPr>
            <a:xfrm>
              <a:off x="0" y="1458381"/>
              <a:ext cx="15987831" cy="6604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78540" lvl="1" indent="-439270" algn="l">
                <a:lnSpc>
                  <a:spcPts val="4883"/>
                </a:lnSpc>
                <a:buFont typeface="Arial"/>
                <a:buChar char="•"/>
              </a:pPr>
              <a:r>
                <a:rPr lang="en-US" sz="406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Direct sales to diagnostic centers</a:t>
              </a:r>
            </a:p>
            <a:p>
              <a:pPr marL="878540" lvl="1" indent="-439270" algn="l">
                <a:lnSpc>
                  <a:spcPts val="4883"/>
                </a:lnSpc>
                <a:buFont typeface="Arial"/>
                <a:buChar char="•"/>
              </a:pPr>
              <a:r>
                <a:rPr lang="en-US" sz="406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Partnerships with clinics &amp; doctors</a:t>
              </a:r>
            </a:p>
            <a:p>
              <a:pPr marL="878540" lvl="1" indent="-439270" algn="l">
                <a:lnSpc>
                  <a:spcPts val="4883"/>
                </a:lnSpc>
                <a:buFont typeface="Arial"/>
                <a:buChar char="•"/>
              </a:pPr>
              <a:r>
                <a:rPr lang="en-US" sz="406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Online marketing (Google Ads, Social Media)</a:t>
              </a:r>
            </a:p>
            <a:p>
              <a:pPr marL="878540" lvl="1" indent="-439270" algn="l">
                <a:lnSpc>
                  <a:spcPts val="4883"/>
                </a:lnSpc>
                <a:buFont typeface="Arial"/>
                <a:buChar char="•"/>
              </a:pPr>
              <a:r>
                <a:rPr lang="en-US" sz="406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Medical associations &amp; local health fairs</a:t>
              </a:r>
            </a:p>
            <a:p>
              <a:pPr marL="878540" lvl="1" indent="-439270" algn="l">
                <a:lnSpc>
                  <a:spcPts val="4883"/>
                </a:lnSpc>
                <a:buFont typeface="Arial"/>
                <a:buChar char="•"/>
              </a:pPr>
              <a:r>
                <a:rPr lang="en-US" sz="406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On-ground marketing at clinics/labs</a:t>
              </a:r>
            </a:p>
            <a:p>
              <a:pPr marL="878540" lvl="1" indent="-439270" algn="l">
                <a:lnSpc>
                  <a:spcPts val="4883"/>
                </a:lnSpc>
                <a:buFont typeface="Arial"/>
                <a:buChar char="•"/>
              </a:pPr>
              <a:r>
                <a:rPr lang="en-US" sz="406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Collaborations with hospitals or health influencers</a:t>
              </a:r>
            </a:p>
            <a:p>
              <a:pPr marL="0" lvl="0" indent="0" algn="ctr">
                <a:lnSpc>
                  <a:spcPts val="4883"/>
                </a:lnSpc>
              </a:pPr>
              <a:endParaRPr lang="en-US" sz="406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09550"/>
              <a:ext cx="18950164" cy="1644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519"/>
                </a:lnSpc>
                <a:spcBef>
                  <a:spcPct val="0"/>
                </a:spcBef>
              </a:pPr>
              <a:r>
                <a:rPr lang="en-US" sz="7099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CHANNELS: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588329" y="428456"/>
            <a:ext cx="2802402" cy="788176"/>
          </a:xfrm>
          <a:custGeom>
            <a:avLst/>
            <a:gdLst/>
            <a:ahLst/>
            <a:cxnLst/>
            <a:rect l="l" t="t" r="r" b="b"/>
            <a:pathLst>
              <a:path w="2802402" h="788176">
                <a:moveTo>
                  <a:pt x="0" y="0"/>
                </a:moveTo>
                <a:lnTo>
                  <a:pt x="2802402" y="0"/>
                </a:lnTo>
                <a:lnTo>
                  <a:pt x="2802402" y="788176"/>
                </a:lnTo>
                <a:lnTo>
                  <a:pt x="0" y="7881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3134479">
            <a:off x="1162634" y="-7936971"/>
            <a:ext cx="18802182" cy="24447319"/>
            <a:chOff x="0" y="0"/>
            <a:chExt cx="812800" cy="10568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056834"/>
            </a:xfrm>
            <a:custGeom>
              <a:avLst/>
              <a:gdLst/>
              <a:ahLst/>
              <a:cxnLst/>
              <a:rect l="l" t="t" r="r" b="b"/>
              <a:pathLst>
                <a:path w="812800" h="1056834">
                  <a:moveTo>
                    <a:pt x="406400" y="0"/>
                  </a:moveTo>
                  <a:lnTo>
                    <a:pt x="812800" y="1056834"/>
                  </a:lnTo>
                  <a:lnTo>
                    <a:pt x="0" y="105683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4A8A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443048"/>
              <a:ext cx="558800" cy="538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734453"/>
            <a:ext cx="17038540" cy="3499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34"/>
              </a:lnSpc>
            </a:pPr>
            <a:r>
              <a:rPr lang="en-US" sz="439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·      Easy supp</a:t>
            </a:r>
            <a:r>
              <a:rPr lang="en-US" sz="4392" u="none" strike="noStrik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ort through chat/call</a:t>
            </a:r>
          </a:p>
          <a:p>
            <a:pPr marL="0" lvl="0" indent="0" algn="l">
              <a:lnSpc>
                <a:spcPts val="5534"/>
              </a:lnSpc>
            </a:pPr>
            <a:r>
              <a:rPr lang="en-US" sz="4392" u="none" strike="noStrik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·      Appointment reminders &amp; notifications</a:t>
            </a:r>
          </a:p>
          <a:p>
            <a:pPr marL="0" lvl="0" indent="0" algn="l">
              <a:lnSpc>
                <a:spcPts val="5534"/>
              </a:lnSpc>
            </a:pPr>
            <a:r>
              <a:rPr lang="en-US" sz="4392" u="none" strike="noStrik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·      Feedback system post-appointment</a:t>
            </a:r>
          </a:p>
          <a:p>
            <a:pPr marL="0" lvl="0" indent="0" algn="l">
              <a:lnSpc>
                <a:spcPts val="5534"/>
              </a:lnSpc>
            </a:pPr>
            <a:r>
              <a:rPr lang="en-US" sz="4392" u="none" strike="noStrik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·      Regular updates &amp; improvements</a:t>
            </a:r>
          </a:p>
          <a:p>
            <a:pPr marL="0" lvl="0" indent="0" algn="just">
              <a:lnSpc>
                <a:spcPts val="5534"/>
              </a:lnSpc>
            </a:pPr>
            <a:endParaRPr lang="en-US" sz="4392" u="none" strike="noStrike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198331" y="381528"/>
            <a:ext cx="8228924" cy="41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20"/>
              </a:lnSpc>
            </a:pPr>
            <a:r>
              <a:rPr lang="en-US" sz="66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CUSTOMER RELATIONSHIPS &amp; ENGAGEMENT:</a:t>
            </a:r>
          </a:p>
          <a:p>
            <a:pPr marL="0" lvl="0" indent="0" algn="ctr">
              <a:lnSpc>
                <a:spcPts val="7920"/>
              </a:lnSpc>
            </a:pPr>
            <a:endParaRPr lang="en-US" sz="66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88329" y="428456"/>
            <a:ext cx="2802402" cy="788176"/>
          </a:xfrm>
          <a:custGeom>
            <a:avLst/>
            <a:gdLst/>
            <a:ahLst/>
            <a:cxnLst/>
            <a:rect l="l" t="t" r="r" b="b"/>
            <a:pathLst>
              <a:path w="2802402" h="788176">
                <a:moveTo>
                  <a:pt x="0" y="0"/>
                </a:moveTo>
                <a:lnTo>
                  <a:pt x="2802402" y="0"/>
                </a:lnTo>
                <a:lnTo>
                  <a:pt x="2802402" y="788176"/>
                </a:lnTo>
                <a:lnTo>
                  <a:pt x="0" y="788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4588B-0314-3228-053D-0DCA4766A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2FE4A88-9E64-4C75-7FED-0F306D58F329}"/>
              </a:ext>
            </a:extLst>
          </p:cNvPr>
          <p:cNvGrpSpPr/>
          <p:nvPr/>
        </p:nvGrpSpPr>
        <p:grpSpPr>
          <a:xfrm rot="3134479">
            <a:off x="1162634" y="-7936971"/>
            <a:ext cx="18802182" cy="24447319"/>
            <a:chOff x="0" y="0"/>
            <a:chExt cx="812800" cy="105683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0D4366-2C4B-7EBE-AF8C-4559BD56FC12}"/>
                </a:ext>
              </a:extLst>
            </p:cNvPr>
            <p:cNvSpPr/>
            <p:nvPr/>
          </p:nvSpPr>
          <p:spPr>
            <a:xfrm>
              <a:off x="0" y="0"/>
              <a:ext cx="812800" cy="1056834"/>
            </a:xfrm>
            <a:custGeom>
              <a:avLst/>
              <a:gdLst/>
              <a:ahLst/>
              <a:cxnLst/>
              <a:rect l="l" t="t" r="r" b="b"/>
              <a:pathLst>
                <a:path w="812800" h="1056834">
                  <a:moveTo>
                    <a:pt x="406400" y="0"/>
                  </a:moveTo>
                  <a:lnTo>
                    <a:pt x="812800" y="1056834"/>
                  </a:lnTo>
                  <a:lnTo>
                    <a:pt x="0" y="105683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4A8A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74B058C-E32C-E9A8-0073-C1F25C2B1EAB}"/>
                </a:ext>
              </a:extLst>
            </p:cNvPr>
            <p:cNvSpPr txBox="1"/>
            <p:nvPr/>
          </p:nvSpPr>
          <p:spPr>
            <a:xfrm>
              <a:off x="127000" y="443048"/>
              <a:ext cx="558800" cy="538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DD643E2-9D55-1558-2A48-254F3D6F2261}"/>
              </a:ext>
            </a:extLst>
          </p:cNvPr>
          <p:cNvSpPr txBox="1"/>
          <p:nvPr/>
        </p:nvSpPr>
        <p:spPr>
          <a:xfrm>
            <a:off x="1028700" y="4734453"/>
            <a:ext cx="17038540" cy="136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534"/>
              </a:lnSpc>
            </a:pPr>
            <a:r>
              <a:rPr lang="en-US" sz="4392" dirty="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https://excalidraw.com/#room=2bc3b250f2dccef4965d,9VbrJi_lmEQPrKvM84Kbjw</a:t>
            </a:r>
            <a:endParaRPr lang="en-US" sz="4392" u="none" strike="noStrike" dirty="0">
              <a:solidFill>
                <a:srgbClr val="FFFFFF"/>
              </a:solidFill>
              <a:latin typeface="Almarai"/>
              <a:ea typeface="Almarai"/>
              <a:cs typeface="Almarai"/>
              <a:sym typeface="Almarai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CD0B80F-FFCE-BA4C-8860-1B75995D0141}"/>
              </a:ext>
            </a:extLst>
          </p:cNvPr>
          <p:cNvSpPr txBox="1"/>
          <p:nvPr/>
        </p:nvSpPr>
        <p:spPr>
          <a:xfrm>
            <a:off x="8198331" y="381528"/>
            <a:ext cx="8228924" cy="303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20"/>
              </a:lnSpc>
            </a:pPr>
            <a:r>
              <a:rPr lang="en-US" sz="66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UI / UX </a:t>
            </a:r>
            <a:br>
              <a:rPr lang="en-US" sz="66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</a:br>
            <a:r>
              <a:rPr lang="en-US" sz="66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WireFrame</a:t>
            </a:r>
            <a:r>
              <a:rPr lang="en-US" sz="66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</a:p>
          <a:p>
            <a:pPr marL="0" lvl="0" indent="0" algn="ctr">
              <a:lnSpc>
                <a:spcPts val="7920"/>
              </a:lnSpc>
            </a:pPr>
            <a:endParaRPr lang="en-US" sz="6600" b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B00BA45-A0AE-9F43-C645-9BE03E1D6116}"/>
              </a:ext>
            </a:extLst>
          </p:cNvPr>
          <p:cNvSpPr/>
          <p:nvPr/>
        </p:nvSpPr>
        <p:spPr>
          <a:xfrm>
            <a:off x="588329" y="428456"/>
            <a:ext cx="2802402" cy="788176"/>
          </a:xfrm>
          <a:custGeom>
            <a:avLst/>
            <a:gdLst/>
            <a:ahLst/>
            <a:cxnLst/>
            <a:rect l="l" t="t" r="r" b="b"/>
            <a:pathLst>
              <a:path w="2802402" h="788176">
                <a:moveTo>
                  <a:pt x="0" y="0"/>
                </a:moveTo>
                <a:lnTo>
                  <a:pt x="2802402" y="0"/>
                </a:lnTo>
                <a:lnTo>
                  <a:pt x="2802402" y="788176"/>
                </a:lnTo>
                <a:lnTo>
                  <a:pt x="0" y="788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047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000" b="-69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88329" y="428456"/>
            <a:ext cx="2802402" cy="788176"/>
          </a:xfrm>
          <a:custGeom>
            <a:avLst/>
            <a:gdLst/>
            <a:ahLst/>
            <a:cxnLst/>
            <a:rect l="l" t="t" r="r" b="b"/>
            <a:pathLst>
              <a:path w="2802402" h="788176">
                <a:moveTo>
                  <a:pt x="0" y="0"/>
                </a:moveTo>
                <a:lnTo>
                  <a:pt x="2802402" y="0"/>
                </a:lnTo>
                <a:lnTo>
                  <a:pt x="2802402" y="788176"/>
                </a:lnTo>
                <a:lnTo>
                  <a:pt x="0" y="788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28700" y="2159565"/>
            <a:ext cx="14212623" cy="5030690"/>
            <a:chOff x="0" y="0"/>
            <a:chExt cx="18950164" cy="6707587"/>
          </a:xfrm>
        </p:grpSpPr>
        <p:sp>
          <p:nvSpPr>
            <p:cNvPr id="5" name="TextBox 5"/>
            <p:cNvSpPr txBox="1"/>
            <p:nvPr/>
          </p:nvSpPr>
          <p:spPr>
            <a:xfrm>
              <a:off x="241300" y="1754587"/>
              <a:ext cx="15987831" cy="495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78540" lvl="1" indent="-439270" algn="l">
                <a:lnSpc>
                  <a:spcPts val="4883"/>
                </a:lnSpc>
                <a:buFont typeface="Arial"/>
                <a:buChar char="•"/>
              </a:pPr>
              <a:r>
                <a:rPr lang="en-US" sz="406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Mobile App Launch (Android &amp; iOS)</a:t>
              </a:r>
            </a:p>
            <a:p>
              <a:pPr marL="878540" lvl="1" indent="-439270" algn="l">
                <a:lnSpc>
                  <a:spcPts val="4883"/>
                </a:lnSpc>
                <a:buFont typeface="Arial"/>
                <a:buChar char="•"/>
              </a:pPr>
              <a:r>
                <a:rPr lang="en-US" sz="406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AI-based slot prediction &amp; reminders</a:t>
              </a:r>
            </a:p>
            <a:p>
              <a:pPr marL="878540" lvl="1" indent="-439270" algn="l">
                <a:lnSpc>
                  <a:spcPts val="4883"/>
                </a:lnSpc>
                <a:buFont typeface="Arial"/>
                <a:buChar char="•"/>
              </a:pPr>
              <a:r>
                <a:rPr lang="en-US" sz="406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Digital payments &amp; multi-language support</a:t>
              </a:r>
            </a:p>
            <a:p>
              <a:pPr marL="878540" lvl="1" indent="-439270" algn="l">
                <a:lnSpc>
                  <a:spcPts val="4883"/>
                </a:lnSpc>
                <a:buFont typeface="Arial"/>
                <a:buChar char="•"/>
              </a:pPr>
              <a:r>
                <a:rPr lang="en-US" sz="406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Integration with hospitals &amp; doctors</a:t>
              </a:r>
            </a:p>
            <a:p>
              <a:pPr marL="878540" lvl="1" indent="-439270" algn="l">
                <a:lnSpc>
                  <a:spcPts val="4883"/>
                </a:lnSpc>
                <a:buFont typeface="Arial"/>
                <a:buChar char="•"/>
              </a:pPr>
              <a:r>
                <a:rPr lang="en-US" sz="406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Digital health records &amp; history</a:t>
              </a:r>
            </a:p>
            <a:p>
              <a:pPr marL="878540" lvl="1" indent="-439270" algn="l">
                <a:lnSpc>
                  <a:spcPts val="4883"/>
                </a:lnSpc>
                <a:buFont typeface="Arial"/>
                <a:buChar char="•"/>
              </a:pPr>
              <a:r>
                <a:rPr lang="en-US" sz="406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Expansion to multiple cities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09550"/>
              <a:ext cx="18950164" cy="1644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519"/>
                </a:lnSpc>
                <a:spcBef>
                  <a:spcPct val="0"/>
                </a:spcBef>
              </a:pPr>
              <a:r>
                <a:rPr lang="en-US" sz="7099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Future Sope: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27794-F06A-1A7F-AA65-30691C6E5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D771FB-23DA-EC6E-4F28-A69FCDE3EB58}"/>
              </a:ext>
            </a:extLst>
          </p:cNvPr>
          <p:cNvSpPr/>
          <p:nvPr/>
        </p:nvSpPr>
        <p:spPr>
          <a:xfrm>
            <a:off x="2498891" y="-1024762"/>
            <a:ext cx="13290218" cy="13290218"/>
          </a:xfrm>
          <a:custGeom>
            <a:avLst/>
            <a:gdLst/>
            <a:ahLst/>
            <a:cxnLst/>
            <a:rect l="l" t="t" r="r" b="b"/>
            <a:pathLst>
              <a:path w="13290218" h="13290218">
                <a:moveTo>
                  <a:pt x="0" y="0"/>
                </a:moveTo>
                <a:lnTo>
                  <a:pt x="13290218" y="0"/>
                </a:lnTo>
                <a:lnTo>
                  <a:pt x="13290218" y="13290218"/>
                </a:lnTo>
                <a:lnTo>
                  <a:pt x="0" y="13290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5C67FC7-0239-8151-BB59-293C8547AA17}"/>
              </a:ext>
            </a:extLst>
          </p:cNvPr>
          <p:cNvSpPr txBox="1"/>
          <p:nvPr/>
        </p:nvSpPr>
        <p:spPr>
          <a:xfrm>
            <a:off x="3005627" y="4380018"/>
            <a:ext cx="12276746" cy="1888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13"/>
              </a:lnSpc>
            </a:pPr>
            <a:r>
              <a:rPr lang="en-US" sz="1480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0B4DDCA-159C-244E-A591-BEFFECB74BFD}"/>
              </a:ext>
            </a:extLst>
          </p:cNvPr>
          <p:cNvSpPr/>
          <p:nvPr/>
        </p:nvSpPr>
        <p:spPr>
          <a:xfrm>
            <a:off x="588329" y="428456"/>
            <a:ext cx="2802402" cy="788176"/>
          </a:xfrm>
          <a:custGeom>
            <a:avLst/>
            <a:gdLst/>
            <a:ahLst/>
            <a:cxnLst/>
            <a:rect l="l" t="t" r="r" b="b"/>
            <a:pathLst>
              <a:path w="2802402" h="788176">
                <a:moveTo>
                  <a:pt x="0" y="0"/>
                </a:moveTo>
                <a:lnTo>
                  <a:pt x="2802402" y="0"/>
                </a:lnTo>
                <a:lnTo>
                  <a:pt x="2802402" y="788176"/>
                </a:lnTo>
                <a:lnTo>
                  <a:pt x="0" y="788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1EFEDA-5298-6DF3-7A39-300EADF06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05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103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98891" y="-1024762"/>
            <a:ext cx="13290218" cy="13290218"/>
          </a:xfrm>
          <a:custGeom>
            <a:avLst/>
            <a:gdLst/>
            <a:ahLst/>
            <a:cxnLst/>
            <a:rect l="l" t="t" r="r" b="b"/>
            <a:pathLst>
              <a:path w="13290218" h="13290218">
                <a:moveTo>
                  <a:pt x="0" y="0"/>
                </a:moveTo>
                <a:lnTo>
                  <a:pt x="13290218" y="0"/>
                </a:lnTo>
                <a:lnTo>
                  <a:pt x="13290218" y="13290218"/>
                </a:lnTo>
                <a:lnTo>
                  <a:pt x="0" y="13290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005627" y="4380018"/>
            <a:ext cx="12276746" cy="1888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13"/>
              </a:lnSpc>
            </a:pPr>
            <a:r>
              <a:rPr lang="en-US" sz="1480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588329" y="428456"/>
            <a:ext cx="2802402" cy="788176"/>
          </a:xfrm>
          <a:custGeom>
            <a:avLst/>
            <a:gdLst/>
            <a:ahLst/>
            <a:cxnLst/>
            <a:rect l="l" t="t" r="r" b="b"/>
            <a:pathLst>
              <a:path w="2802402" h="788176">
                <a:moveTo>
                  <a:pt x="0" y="0"/>
                </a:moveTo>
                <a:lnTo>
                  <a:pt x="2802402" y="0"/>
                </a:lnTo>
                <a:lnTo>
                  <a:pt x="2802402" y="788176"/>
                </a:lnTo>
                <a:lnTo>
                  <a:pt x="0" y="788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422</Words>
  <Application>Microsoft Office PowerPoint</Application>
  <PresentationFormat>Custom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Almarai</vt:lpstr>
      <vt:lpstr>Heebo Bold</vt:lpstr>
      <vt:lpstr>Agrandir Bold</vt:lpstr>
      <vt:lpstr>Quickstand</vt:lpstr>
      <vt:lpstr>Quicksand</vt:lpstr>
      <vt:lpstr>Quicksand Bold</vt:lpstr>
      <vt:lpstr>Arial</vt:lpstr>
      <vt:lpstr>Anton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ScanMitra: Connecting  
Patients to Diagnostic Centers</dc:title>
  <dc:creator>Priyanshi Naghera</dc:creator>
  <dc:description>Presentation - ScanMitra: Connecting  
Patients to Diagnostic Centers</dc:description>
  <cp:lastModifiedBy>pihulnaghera@gmail.com</cp:lastModifiedBy>
  <cp:revision>4</cp:revision>
  <dcterms:created xsi:type="dcterms:W3CDTF">2006-08-16T00:00:00Z</dcterms:created>
  <dcterms:modified xsi:type="dcterms:W3CDTF">2026-02-06T04:35:43Z</dcterms:modified>
  <dc:identifier>DAGx1xtyhng</dc:identifier>
</cp:coreProperties>
</file>